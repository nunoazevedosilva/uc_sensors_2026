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3" r:id="rId3"/>
    <p:sldId id="301" r:id="rId4"/>
    <p:sldId id="333" r:id="rId5"/>
    <p:sldId id="334" r:id="rId6"/>
    <p:sldId id="335" r:id="rId7"/>
    <p:sldId id="282" r:id="rId8"/>
    <p:sldId id="347" r:id="rId9"/>
    <p:sldId id="341" r:id="rId10"/>
    <p:sldId id="348" r:id="rId11"/>
    <p:sldId id="340" r:id="rId12"/>
    <p:sldId id="349" r:id="rId13"/>
    <p:sldId id="342" r:id="rId14"/>
    <p:sldId id="350" r:id="rId15"/>
    <p:sldId id="343" r:id="rId16"/>
    <p:sldId id="351" r:id="rId17"/>
    <p:sldId id="352" r:id="rId18"/>
    <p:sldId id="344" r:id="rId19"/>
    <p:sldId id="345" r:id="rId20"/>
    <p:sldId id="346" r:id="rId21"/>
    <p:sldId id="338" r:id="rId22"/>
    <p:sldId id="336" r:id="rId23"/>
    <p:sldId id="33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920" autoAdjust="0"/>
  </p:normalViewPr>
  <p:slideViewPr>
    <p:cSldViewPr snapToGrid="0" showGuides="1">
      <p:cViewPr varScale="1">
        <p:scale>
          <a:sx n="66" d="100"/>
          <a:sy n="66" d="100"/>
        </p:scale>
        <p:origin x="125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8DDA5-3626-41B7-ADDE-8C565F5266C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DC38D-E434-4ADA-908C-5C8B5F331F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6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C38D-E434-4ADA-908C-5C8B5F331F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74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8BF83-5939-B53F-69C3-D701A6974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DEBBE4-2C19-0CEF-F653-56CCBF63F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57600"/>
            <a:ext cx="9144000" cy="16002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dirty="0"/>
              <a:t>Clique para editar o estilo de subtítulo do Modelo Global</a:t>
            </a:r>
            <a:endParaRPr lang="en-US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2FC2431-F1AD-3690-E523-6D2F8984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7670121-16ED-CA39-3E3B-1EA9A081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C950E22-789D-8995-1EDF-5B7CD977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77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CB8CE-7BB6-250B-CB31-7000078C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Clique para editar o estilo de título do Modelo Global</a:t>
            </a:r>
            <a:endParaRPr lang="en-US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B81BC1F-7D98-359A-90B2-DF332AF1C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E18DCBD-FB09-78F7-0177-FAE6D348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1E1864B-6BE8-94C4-1412-A04B88CF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198AD41-722A-E780-D591-EE0CD7EF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29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39D70-FB5D-9C2C-CF29-31253A0F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FE3C63A-A852-7013-B1AF-95655281C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F3B8885-B109-54AD-936D-3D3A2E07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7B1E56C-D862-CAEF-3F9D-919A418F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537371F-6B6C-F4AC-9762-FA2B00B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36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6A7E7-C114-7141-9E5E-DFA42652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B20C68A-4CCF-7E38-C558-34946EBF1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C5B07F4-0784-B64F-D970-330451F67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11D3263-3669-ED5E-FE16-11175158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7470059-FE6B-0E66-86D1-64FAF397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C92E6A5-05E2-AB0B-FDD9-41850D3E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6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A92EC-4ED3-F88C-43B7-EEBC337D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3778FBE-E596-7F89-98BB-9356D198E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3548C41-2A90-9485-FC13-137AD2868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E53F9DE-6B23-0637-9D3C-6C212E6CE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8FF975F-3822-8BC5-E1EF-26FAE4859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B82E063-968D-0D54-FB89-3D28F890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320F0B7-E451-6F53-AB18-109D5251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AFB6C6A0-2D6A-EC77-71FA-97FEECB6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FA9F8-76F3-D152-F22D-51EC3467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D6E9E31-5306-CA3F-C4E5-917DF062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F7BA07D-96BE-63E7-4794-842BB252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F6C5AE8-ABA6-8A1D-70B2-01DC715F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1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F0DA194-38D0-A8C1-FE16-22C1C43F0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B11C00A-D435-08E5-FE90-D07E9D8A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922B94B-7D95-FFDC-BC20-E98B98CC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3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76F20-BD70-44BF-5716-3C7A2F98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4F33DFC-E5BB-CB67-8C86-5AD66E206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F47EBD9-EDC7-C8FF-40B2-D612199DB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E584681-7DB3-EB59-BA07-2191B620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9B28379-5426-6994-87B3-8BA6838E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9B7BD50-419D-8632-8E92-A30A250F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5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BC411-9BD7-AD74-81C8-FD1CDF8B0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EDCE5BB-E174-BF4D-01CB-7469A560E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812B6E7-D2BC-6287-089E-56026641D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B75F2A2-25A2-217E-4C95-9F565183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2B52BFF-C856-D257-B181-0E6F68F9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DAA7E22-9CF4-142E-3338-07A1D7BF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34456D-1C5E-D60C-5BB6-6775B8DA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05EA430-0ABE-56CE-D596-3992F7FBC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C8BF055-DE42-2B46-4560-710364D3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6F8DA2-8B52-AF1E-B615-ACAB2269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51C1A8B-6205-04B4-8979-F3C942B8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9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D17242-CDC8-33BB-F743-10C28CA20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AE8D937-18AC-E369-7391-385831596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4E5805B-D896-BBAC-7390-D6130170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11ECEF3-8B95-FF55-DD54-882A6E60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A2FD609-337E-ECAE-48D3-F2452AC8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6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4FE5C3F-7FF4-929C-2AA7-CE824EEE0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622E082-52DD-59A2-1E4A-1923351A7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97ACDD7-554F-5F10-D862-C15120349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D69C3-7CDB-4F57-8651-E6FB923F0420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FAC71C6-3389-A17B-1C61-F4ED3A8EC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9D6BFEF-2370-4B54-9406-58C05845B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E8AAB-D2B1-475B-921C-1DEDA7419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9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4A029-711E-9B61-5C56-4A6DA45ECA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Sensors and Signal Analysis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AB5664-6B08-4C51-5E69-34DA567D07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Week 1: Exercises and Hands-on Activity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3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A87B-E6AA-63BF-DFEB-AFA144B1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D7FED51-30D4-40F6-FA75-F30C2EDEFCBB}"/>
              </a:ext>
            </a:extLst>
          </p:cNvPr>
          <p:cNvSpPr txBox="1"/>
          <p:nvPr/>
        </p:nvSpPr>
        <p:spPr>
          <a:xfrm>
            <a:off x="1061341" y="961106"/>
            <a:ext cx="10096654" cy="181588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/>
              <a:t>Sensor: </a:t>
            </a:r>
            <a:r>
              <a:rPr lang="en-US" sz="2800" dirty="0"/>
              <a:t>A device</a:t>
            </a:r>
            <a:r>
              <a:rPr lang="en-US" sz="2800" b="1" dirty="0"/>
              <a:t>(transducer)</a:t>
            </a:r>
            <a:r>
              <a:rPr lang="en-US" sz="2800" dirty="0"/>
              <a:t> that detects and measures physical properties or changes in a physical system, producing a usable </a:t>
            </a:r>
            <a:r>
              <a:rPr lang="en-US" sz="2800" b="1" i="1" dirty="0"/>
              <a:t>output signal </a:t>
            </a:r>
            <a:r>
              <a:rPr lang="en-US" sz="2800" dirty="0"/>
              <a:t>(typically an electric signal) in response to a </a:t>
            </a:r>
            <a:r>
              <a:rPr lang="en-US" sz="2800" b="1" i="1" dirty="0"/>
              <a:t>stimulus</a:t>
            </a:r>
            <a:r>
              <a:rPr lang="en-US" sz="2800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83BDD3-3297-187F-156B-3CA28AA6A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718" y="3009074"/>
            <a:ext cx="6160144" cy="358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23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2480-8180-6600-45E6-4871303C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 descr="Uma imagem com texto, diagrama, file, Gráfico&#10;&#10;Descrição gerada automaticamente">
            <a:extLst>
              <a:ext uri="{FF2B5EF4-FFF2-40B4-BE49-F238E27FC236}">
                <a16:creationId xmlns:a16="http://schemas.microsoft.com/office/drawing/2014/main" id="{6E477C51-2233-A7B0-5F3C-7DA79C8EC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387" y="2126894"/>
            <a:ext cx="3127248" cy="3198571"/>
          </a:xfrm>
          <a:prstGeom prst="rect">
            <a:avLst/>
          </a:prstGeom>
        </p:spPr>
      </p:pic>
      <p:pic>
        <p:nvPicPr>
          <p:cNvPr id="34" name="Imagem 33" descr="Uma imagem com texto, diagrama, file, Gráfico&#10;&#10;Descrição gerada automaticamente">
            <a:extLst>
              <a:ext uri="{FF2B5EF4-FFF2-40B4-BE49-F238E27FC236}">
                <a16:creationId xmlns:a16="http://schemas.microsoft.com/office/drawing/2014/main" id="{D918264B-987D-7DC2-A1B3-351EA591B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267" y="1987868"/>
            <a:ext cx="3246120" cy="3677717"/>
          </a:xfrm>
          <a:prstGeom prst="rect">
            <a:avLst/>
          </a:prstGeom>
        </p:spPr>
      </p:pic>
      <p:sp>
        <p:nvSpPr>
          <p:cNvPr id="36" name="Título 35">
            <a:extLst>
              <a:ext uri="{FF2B5EF4-FFF2-40B4-BE49-F238E27FC236}">
                <a16:creationId xmlns:a16="http://schemas.microsoft.com/office/drawing/2014/main" id="{BE6244D8-77B0-5A09-74DF-B4236D3BF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Characteristics</a:t>
            </a:r>
          </a:p>
        </p:txBody>
      </p:sp>
      <p:pic>
        <p:nvPicPr>
          <p:cNvPr id="38" name="Imagem 37" descr="Uma imagem com texto, file, Gráfico, diagrama&#10;&#10;Descrição gerada automaticamente">
            <a:extLst>
              <a:ext uri="{FF2B5EF4-FFF2-40B4-BE49-F238E27FC236}">
                <a16:creationId xmlns:a16="http://schemas.microsoft.com/office/drawing/2014/main" id="{E71F43EB-4A27-FCFC-5348-92B5BF20D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527" y="1987868"/>
            <a:ext cx="2496312" cy="27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05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E72A-2E30-9D88-390C-CD09A8F13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35">
            <a:extLst>
              <a:ext uri="{FF2B5EF4-FFF2-40B4-BE49-F238E27FC236}">
                <a16:creationId xmlns:a16="http://schemas.microsoft.com/office/drawing/2014/main" id="{0D1A841E-590F-C070-66E7-6E98B7F0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Characteristics</a:t>
            </a:r>
          </a:p>
        </p:txBody>
      </p:sp>
      <p:pic>
        <p:nvPicPr>
          <p:cNvPr id="3" name="Imagem 2" descr="Uma imagem com texto, diagrama, file, captura de ecrã&#10;&#10;Descrição gerada automaticamente">
            <a:extLst>
              <a:ext uri="{FF2B5EF4-FFF2-40B4-BE49-F238E27FC236}">
                <a16:creationId xmlns:a16="http://schemas.microsoft.com/office/drawing/2014/main" id="{EBFDAC7C-DD5E-6EFF-67B5-A426E5B10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465" y="2345944"/>
            <a:ext cx="3023006" cy="2763317"/>
          </a:xfrm>
          <a:prstGeom prst="rect">
            <a:avLst/>
          </a:prstGeom>
        </p:spPr>
      </p:pic>
      <p:cxnSp>
        <p:nvCxnSpPr>
          <p:cNvPr id="4" name="Conexão reta unidirecional 3">
            <a:extLst>
              <a:ext uri="{FF2B5EF4-FFF2-40B4-BE49-F238E27FC236}">
                <a16:creationId xmlns:a16="http://schemas.microsoft.com/office/drawing/2014/main" id="{EE224831-1715-1A8F-E179-1749942C7A84}"/>
              </a:ext>
            </a:extLst>
          </p:cNvPr>
          <p:cNvCxnSpPr>
            <a:cxnSpLocks/>
          </p:cNvCxnSpPr>
          <p:nvPr/>
        </p:nvCxnSpPr>
        <p:spPr>
          <a:xfrm flipV="1">
            <a:off x="6939410" y="2508301"/>
            <a:ext cx="0" cy="252476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exão reta unidirecional 4">
            <a:extLst>
              <a:ext uri="{FF2B5EF4-FFF2-40B4-BE49-F238E27FC236}">
                <a16:creationId xmlns:a16="http://schemas.microsoft.com/office/drawing/2014/main" id="{368B4C1B-B532-9132-6D34-82FCE72229D3}"/>
              </a:ext>
            </a:extLst>
          </p:cNvPr>
          <p:cNvCxnSpPr>
            <a:cxnSpLocks/>
          </p:cNvCxnSpPr>
          <p:nvPr/>
        </p:nvCxnSpPr>
        <p:spPr>
          <a:xfrm>
            <a:off x="6939410" y="5033061"/>
            <a:ext cx="2185540" cy="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C54D1E4-03A8-1D92-BD2A-EAF56733F744}"/>
              </a:ext>
            </a:extLst>
          </p:cNvPr>
          <p:cNvSpPr txBox="1"/>
          <p:nvPr/>
        </p:nvSpPr>
        <p:spPr>
          <a:xfrm>
            <a:off x="8501300" y="4720051"/>
            <a:ext cx="870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stimulus</a:t>
            </a:r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9365AB69-3DE0-CC9F-AF9D-BD5C6C305BB7}"/>
              </a:ext>
            </a:extLst>
          </p:cNvPr>
          <p:cNvCxnSpPr>
            <a:cxnSpLocks/>
          </p:cNvCxnSpPr>
          <p:nvPr/>
        </p:nvCxnSpPr>
        <p:spPr>
          <a:xfrm flipV="1">
            <a:off x="8536686" y="3064053"/>
            <a:ext cx="0" cy="204520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A2302310-2DB0-B969-F1FC-741B84160843}"/>
              </a:ext>
            </a:extLst>
          </p:cNvPr>
          <p:cNvCxnSpPr>
            <a:cxnSpLocks/>
          </p:cNvCxnSpPr>
          <p:nvPr/>
        </p:nvCxnSpPr>
        <p:spPr>
          <a:xfrm>
            <a:off x="6937525" y="3064053"/>
            <a:ext cx="1599161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D91E1ED7-C67B-CCEA-6C9B-9EEC35129F63}"/>
              </a:ext>
            </a:extLst>
          </p:cNvPr>
          <p:cNvSpPr txBox="1"/>
          <p:nvPr/>
        </p:nvSpPr>
        <p:spPr>
          <a:xfrm>
            <a:off x="6937525" y="2421849"/>
            <a:ext cx="159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E – output signal</a:t>
            </a: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22F9A83-5667-6BF6-9C4A-E08DEF045ABA}"/>
              </a:ext>
            </a:extLst>
          </p:cNvPr>
          <p:cNvSpPr/>
          <p:nvPr/>
        </p:nvSpPr>
        <p:spPr>
          <a:xfrm>
            <a:off x="6959786" y="3337612"/>
            <a:ext cx="2248984" cy="1527423"/>
          </a:xfrm>
          <a:custGeom>
            <a:avLst/>
            <a:gdLst>
              <a:gd name="connsiteX0" fmla="*/ 0 w 1592580"/>
              <a:gd name="connsiteY0" fmla="*/ 1512570 h 1625515"/>
              <a:gd name="connsiteX1" fmla="*/ 285750 w 1592580"/>
              <a:gd name="connsiteY1" fmla="*/ 1504950 h 1625515"/>
              <a:gd name="connsiteX2" fmla="*/ 1196340 w 1592580"/>
              <a:gd name="connsiteY2" fmla="*/ 278130 h 1625515"/>
              <a:gd name="connsiteX3" fmla="*/ 1592580 w 1592580"/>
              <a:gd name="connsiteY3" fmla="*/ 0 h 1625515"/>
              <a:gd name="connsiteX0" fmla="*/ 0 w 1592580"/>
              <a:gd name="connsiteY0" fmla="*/ 1512570 h 1554114"/>
              <a:gd name="connsiteX1" fmla="*/ 499110 w 1592580"/>
              <a:gd name="connsiteY1" fmla="*/ 1322070 h 1554114"/>
              <a:gd name="connsiteX2" fmla="*/ 1196340 w 1592580"/>
              <a:gd name="connsiteY2" fmla="*/ 278130 h 1554114"/>
              <a:gd name="connsiteX3" fmla="*/ 1592580 w 1592580"/>
              <a:gd name="connsiteY3" fmla="*/ 0 h 1554114"/>
              <a:gd name="connsiteX0" fmla="*/ 0 w 1592580"/>
              <a:gd name="connsiteY0" fmla="*/ 1512570 h 1548707"/>
              <a:gd name="connsiteX1" fmla="*/ 499110 w 1592580"/>
              <a:gd name="connsiteY1" fmla="*/ 1322070 h 1548707"/>
              <a:gd name="connsiteX2" fmla="*/ 1196340 w 1592580"/>
              <a:gd name="connsiteY2" fmla="*/ 278130 h 1548707"/>
              <a:gd name="connsiteX3" fmla="*/ 1592580 w 1592580"/>
              <a:gd name="connsiteY3" fmla="*/ 0 h 1548707"/>
              <a:gd name="connsiteX0" fmla="*/ 0 w 1592580"/>
              <a:gd name="connsiteY0" fmla="*/ 1485900 h 1532343"/>
              <a:gd name="connsiteX1" fmla="*/ 499110 w 1592580"/>
              <a:gd name="connsiteY1" fmla="*/ 1322070 h 1532343"/>
              <a:gd name="connsiteX2" fmla="*/ 1196340 w 1592580"/>
              <a:gd name="connsiteY2" fmla="*/ 278130 h 1532343"/>
              <a:gd name="connsiteX3" fmla="*/ 1592580 w 1592580"/>
              <a:gd name="connsiteY3" fmla="*/ 0 h 1532343"/>
              <a:gd name="connsiteX0" fmla="*/ 0 w 1592580"/>
              <a:gd name="connsiteY0" fmla="*/ 1485900 h 1490308"/>
              <a:gd name="connsiteX1" fmla="*/ 499110 w 1592580"/>
              <a:gd name="connsiteY1" fmla="*/ 1322070 h 1490308"/>
              <a:gd name="connsiteX2" fmla="*/ 1196340 w 1592580"/>
              <a:gd name="connsiteY2" fmla="*/ 278130 h 1490308"/>
              <a:gd name="connsiteX3" fmla="*/ 1592580 w 1592580"/>
              <a:gd name="connsiteY3" fmla="*/ 0 h 1490308"/>
              <a:gd name="connsiteX0" fmla="*/ 0 w 1592580"/>
              <a:gd name="connsiteY0" fmla="*/ 1485900 h 1487115"/>
              <a:gd name="connsiteX1" fmla="*/ 487680 w 1592580"/>
              <a:gd name="connsiteY1" fmla="*/ 1295400 h 1487115"/>
              <a:gd name="connsiteX2" fmla="*/ 1196340 w 1592580"/>
              <a:gd name="connsiteY2" fmla="*/ 278130 h 1487115"/>
              <a:gd name="connsiteX3" fmla="*/ 1592580 w 1592580"/>
              <a:gd name="connsiteY3" fmla="*/ 0 h 1487115"/>
              <a:gd name="connsiteX0" fmla="*/ 0 w 1592580"/>
              <a:gd name="connsiteY0" fmla="*/ 1485900 h 1487973"/>
              <a:gd name="connsiteX1" fmla="*/ 487680 w 1592580"/>
              <a:gd name="connsiteY1" fmla="*/ 1295400 h 1487973"/>
              <a:gd name="connsiteX2" fmla="*/ 1196340 w 1592580"/>
              <a:gd name="connsiteY2" fmla="*/ 278130 h 1487973"/>
              <a:gd name="connsiteX3" fmla="*/ 1592580 w 1592580"/>
              <a:gd name="connsiteY3" fmla="*/ 0 h 1487973"/>
              <a:gd name="connsiteX0" fmla="*/ 0 w 1592580"/>
              <a:gd name="connsiteY0" fmla="*/ 1485900 h 1487021"/>
              <a:gd name="connsiteX1" fmla="*/ 487680 w 1592580"/>
              <a:gd name="connsiteY1" fmla="*/ 1295400 h 1487021"/>
              <a:gd name="connsiteX2" fmla="*/ 982980 w 1592580"/>
              <a:gd name="connsiteY2" fmla="*/ 288290 h 1487021"/>
              <a:gd name="connsiteX3" fmla="*/ 1592580 w 1592580"/>
              <a:gd name="connsiteY3" fmla="*/ 0 h 1487021"/>
              <a:gd name="connsiteX0" fmla="*/ 0 w 1592580"/>
              <a:gd name="connsiteY0" fmla="*/ 1485900 h 1486393"/>
              <a:gd name="connsiteX1" fmla="*/ 487680 w 1592580"/>
              <a:gd name="connsiteY1" fmla="*/ 1295400 h 1486393"/>
              <a:gd name="connsiteX2" fmla="*/ 993140 w 1592580"/>
              <a:gd name="connsiteY2" fmla="*/ 405130 h 1486393"/>
              <a:gd name="connsiteX3" fmla="*/ 1592580 w 1592580"/>
              <a:gd name="connsiteY3" fmla="*/ 0 h 1486393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2311908 w 2311908"/>
              <a:gd name="connsiteY3" fmla="*/ 0 h 1516873"/>
              <a:gd name="connsiteX0" fmla="*/ 0 w 2311908"/>
              <a:gd name="connsiteY0" fmla="*/ 1526976 h 1527469"/>
              <a:gd name="connsiteX1" fmla="*/ 487680 w 2311908"/>
              <a:gd name="connsiteY1" fmla="*/ 1336476 h 1527469"/>
              <a:gd name="connsiteX2" fmla="*/ 993140 w 2311908"/>
              <a:gd name="connsiteY2" fmla="*/ 446206 h 1527469"/>
              <a:gd name="connsiteX3" fmla="*/ 2311908 w 2311908"/>
              <a:gd name="connsiteY3" fmla="*/ 10596 h 1527469"/>
              <a:gd name="connsiteX0" fmla="*/ 0 w 2311908"/>
              <a:gd name="connsiteY0" fmla="*/ 1523003 h 1523496"/>
              <a:gd name="connsiteX1" fmla="*/ 487680 w 2311908"/>
              <a:gd name="connsiteY1" fmla="*/ 1332503 h 1523496"/>
              <a:gd name="connsiteX2" fmla="*/ 993140 w 2311908"/>
              <a:gd name="connsiteY2" fmla="*/ 442233 h 1523496"/>
              <a:gd name="connsiteX3" fmla="*/ 1580964 w 2311908"/>
              <a:gd name="connsiteY3" fmla="*/ 43063 h 1523496"/>
              <a:gd name="connsiteX4" fmla="*/ 2311908 w 2311908"/>
              <a:gd name="connsiteY4" fmla="*/ 6623 h 1523496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1580964 w 2311908"/>
              <a:gd name="connsiteY3" fmla="*/ 36440 h 1516873"/>
              <a:gd name="connsiteX4" fmla="*/ 2311908 w 2311908"/>
              <a:gd name="connsiteY4" fmla="*/ 0 h 1516873"/>
              <a:gd name="connsiteX0" fmla="*/ 0 w 2316988"/>
              <a:gd name="connsiteY0" fmla="*/ 1493520 h 1494013"/>
              <a:gd name="connsiteX1" fmla="*/ 487680 w 2316988"/>
              <a:gd name="connsiteY1" fmla="*/ 1303020 h 1494013"/>
              <a:gd name="connsiteX2" fmla="*/ 993140 w 2316988"/>
              <a:gd name="connsiteY2" fmla="*/ 412750 h 1494013"/>
              <a:gd name="connsiteX3" fmla="*/ 1580964 w 2316988"/>
              <a:gd name="connsiteY3" fmla="*/ 13580 h 1494013"/>
              <a:gd name="connsiteX4" fmla="*/ 2316988 w 2316988"/>
              <a:gd name="connsiteY4" fmla="*/ 0 h 1494013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80964 w 2614744"/>
              <a:gd name="connsiteY3" fmla="*/ 69851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599504"/>
              <a:gd name="connsiteY0" fmla="*/ 1504072 h 1504565"/>
              <a:gd name="connsiteX1" fmla="*/ 487680 w 2599504"/>
              <a:gd name="connsiteY1" fmla="*/ 1313572 h 1504565"/>
              <a:gd name="connsiteX2" fmla="*/ 993140 w 2599504"/>
              <a:gd name="connsiteY2" fmla="*/ 423302 h 1504565"/>
              <a:gd name="connsiteX3" fmla="*/ 1578424 w 2599504"/>
              <a:gd name="connsiteY3" fmla="*/ 22861 h 1504565"/>
              <a:gd name="connsiteX4" fmla="*/ 2599504 w 2599504"/>
              <a:gd name="connsiteY4" fmla="*/ 0 h 1504565"/>
              <a:gd name="connsiteX0" fmla="*/ 0 w 2574104"/>
              <a:gd name="connsiteY0" fmla="*/ 1549791 h 1550284"/>
              <a:gd name="connsiteX1" fmla="*/ 487680 w 2574104"/>
              <a:gd name="connsiteY1" fmla="*/ 1359291 h 1550284"/>
              <a:gd name="connsiteX2" fmla="*/ 993140 w 2574104"/>
              <a:gd name="connsiteY2" fmla="*/ 469021 h 1550284"/>
              <a:gd name="connsiteX3" fmla="*/ 1578424 w 2574104"/>
              <a:gd name="connsiteY3" fmla="*/ 68580 h 1550284"/>
              <a:gd name="connsiteX4" fmla="*/ 2574104 w 2574104"/>
              <a:gd name="connsiteY4" fmla="*/ 0 h 1550284"/>
              <a:gd name="connsiteX0" fmla="*/ 0 w 2574104"/>
              <a:gd name="connsiteY0" fmla="*/ 1504072 h 1504565"/>
              <a:gd name="connsiteX1" fmla="*/ 487680 w 2574104"/>
              <a:gd name="connsiteY1" fmla="*/ 1313572 h 1504565"/>
              <a:gd name="connsiteX2" fmla="*/ 993140 w 2574104"/>
              <a:gd name="connsiteY2" fmla="*/ 423302 h 1504565"/>
              <a:gd name="connsiteX3" fmla="*/ 1578424 w 2574104"/>
              <a:gd name="connsiteY3" fmla="*/ 22861 h 1504565"/>
              <a:gd name="connsiteX4" fmla="*/ 2574104 w 2574104"/>
              <a:gd name="connsiteY4" fmla="*/ 0 h 1504565"/>
              <a:gd name="connsiteX0" fmla="*/ 0 w 2259144"/>
              <a:gd name="connsiteY0" fmla="*/ 1481211 h 1481704"/>
              <a:gd name="connsiteX1" fmla="*/ 487680 w 2259144"/>
              <a:gd name="connsiteY1" fmla="*/ 1290711 h 1481704"/>
              <a:gd name="connsiteX2" fmla="*/ 993140 w 2259144"/>
              <a:gd name="connsiteY2" fmla="*/ 400441 h 1481704"/>
              <a:gd name="connsiteX3" fmla="*/ 1578424 w 2259144"/>
              <a:gd name="connsiteY3" fmla="*/ 0 h 1481704"/>
              <a:gd name="connsiteX4" fmla="*/ 2259144 w 2259144"/>
              <a:gd name="connsiteY4" fmla="*/ 22858 h 1481704"/>
              <a:gd name="connsiteX0" fmla="*/ 0 w 2248984"/>
              <a:gd name="connsiteY0" fmla="*/ 1526930 h 1527423"/>
              <a:gd name="connsiteX1" fmla="*/ 487680 w 2248984"/>
              <a:gd name="connsiteY1" fmla="*/ 1336430 h 1527423"/>
              <a:gd name="connsiteX2" fmla="*/ 993140 w 2248984"/>
              <a:gd name="connsiteY2" fmla="*/ 446160 h 1527423"/>
              <a:gd name="connsiteX3" fmla="*/ 1578424 w 2248984"/>
              <a:gd name="connsiteY3" fmla="*/ 45719 h 1527423"/>
              <a:gd name="connsiteX4" fmla="*/ 2248984 w 2248984"/>
              <a:gd name="connsiteY4" fmla="*/ 0 h 1527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8984" h="1527423">
                <a:moveTo>
                  <a:pt x="0" y="1526930"/>
                </a:moveTo>
                <a:cubicBezTo>
                  <a:pt x="287020" y="1530740"/>
                  <a:pt x="322157" y="1516558"/>
                  <a:pt x="487680" y="1336430"/>
                </a:cubicBezTo>
                <a:cubicBezTo>
                  <a:pt x="653203" y="1156302"/>
                  <a:pt x="807116" y="660643"/>
                  <a:pt x="993140" y="446160"/>
                </a:cubicBezTo>
                <a:cubicBezTo>
                  <a:pt x="1179164" y="231677"/>
                  <a:pt x="1307914" y="68579"/>
                  <a:pt x="1578424" y="45719"/>
                </a:cubicBezTo>
                <a:lnTo>
                  <a:pt x="2248984" y="0"/>
                </a:ln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5CC92FA-DA7F-0777-9293-E2F1CF30BBFC}"/>
                  </a:ext>
                </a:extLst>
              </p:cNvPr>
              <p:cNvSpPr txBox="1"/>
              <p:nvPr/>
            </p:nvSpPr>
            <p:spPr>
              <a:xfrm>
                <a:off x="7442975" y="4401395"/>
                <a:ext cx="91440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1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𝐹</m:t>
                      </m:r>
                      <m:r>
                        <a:rPr lang="pt-PT" sz="11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(</m:t>
                      </m:r>
                      <m:r>
                        <a:rPr lang="pt-PT" sz="11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𝑠</m:t>
                      </m:r>
                      <m:r>
                        <a:rPr lang="pt-PT" sz="11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)</m:t>
                      </m:r>
                    </m:oMath>
                  </m:oMathPara>
                </a14:m>
                <a:endParaRPr lang="en-US" sz="1100" i="1" dirty="0">
                  <a:solidFill>
                    <a:schemeClr val="accent6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5CC92FA-DA7F-0777-9293-E2F1CF30B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2975" y="4401395"/>
                <a:ext cx="914400" cy="261610"/>
              </a:xfrm>
              <a:prstGeom prst="rect">
                <a:avLst/>
              </a:prstGeom>
              <a:blipFill>
                <a:blip r:embed="rId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778DB8B4-AEE6-9B97-B0B6-FF688F540785}"/>
              </a:ext>
            </a:extLst>
          </p:cNvPr>
          <p:cNvSpPr/>
          <p:nvPr/>
        </p:nvSpPr>
        <p:spPr>
          <a:xfrm>
            <a:off x="6959786" y="3398481"/>
            <a:ext cx="2248984" cy="1527423"/>
          </a:xfrm>
          <a:custGeom>
            <a:avLst/>
            <a:gdLst>
              <a:gd name="connsiteX0" fmla="*/ 0 w 1592580"/>
              <a:gd name="connsiteY0" fmla="*/ 1512570 h 1625515"/>
              <a:gd name="connsiteX1" fmla="*/ 285750 w 1592580"/>
              <a:gd name="connsiteY1" fmla="*/ 1504950 h 1625515"/>
              <a:gd name="connsiteX2" fmla="*/ 1196340 w 1592580"/>
              <a:gd name="connsiteY2" fmla="*/ 278130 h 1625515"/>
              <a:gd name="connsiteX3" fmla="*/ 1592580 w 1592580"/>
              <a:gd name="connsiteY3" fmla="*/ 0 h 1625515"/>
              <a:gd name="connsiteX0" fmla="*/ 0 w 1592580"/>
              <a:gd name="connsiteY0" fmla="*/ 1512570 h 1554114"/>
              <a:gd name="connsiteX1" fmla="*/ 499110 w 1592580"/>
              <a:gd name="connsiteY1" fmla="*/ 1322070 h 1554114"/>
              <a:gd name="connsiteX2" fmla="*/ 1196340 w 1592580"/>
              <a:gd name="connsiteY2" fmla="*/ 278130 h 1554114"/>
              <a:gd name="connsiteX3" fmla="*/ 1592580 w 1592580"/>
              <a:gd name="connsiteY3" fmla="*/ 0 h 1554114"/>
              <a:gd name="connsiteX0" fmla="*/ 0 w 1592580"/>
              <a:gd name="connsiteY0" fmla="*/ 1512570 h 1548707"/>
              <a:gd name="connsiteX1" fmla="*/ 499110 w 1592580"/>
              <a:gd name="connsiteY1" fmla="*/ 1322070 h 1548707"/>
              <a:gd name="connsiteX2" fmla="*/ 1196340 w 1592580"/>
              <a:gd name="connsiteY2" fmla="*/ 278130 h 1548707"/>
              <a:gd name="connsiteX3" fmla="*/ 1592580 w 1592580"/>
              <a:gd name="connsiteY3" fmla="*/ 0 h 1548707"/>
              <a:gd name="connsiteX0" fmla="*/ 0 w 1592580"/>
              <a:gd name="connsiteY0" fmla="*/ 1485900 h 1532343"/>
              <a:gd name="connsiteX1" fmla="*/ 499110 w 1592580"/>
              <a:gd name="connsiteY1" fmla="*/ 1322070 h 1532343"/>
              <a:gd name="connsiteX2" fmla="*/ 1196340 w 1592580"/>
              <a:gd name="connsiteY2" fmla="*/ 278130 h 1532343"/>
              <a:gd name="connsiteX3" fmla="*/ 1592580 w 1592580"/>
              <a:gd name="connsiteY3" fmla="*/ 0 h 1532343"/>
              <a:gd name="connsiteX0" fmla="*/ 0 w 1592580"/>
              <a:gd name="connsiteY0" fmla="*/ 1485900 h 1490308"/>
              <a:gd name="connsiteX1" fmla="*/ 499110 w 1592580"/>
              <a:gd name="connsiteY1" fmla="*/ 1322070 h 1490308"/>
              <a:gd name="connsiteX2" fmla="*/ 1196340 w 1592580"/>
              <a:gd name="connsiteY2" fmla="*/ 278130 h 1490308"/>
              <a:gd name="connsiteX3" fmla="*/ 1592580 w 1592580"/>
              <a:gd name="connsiteY3" fmla="*/ 0 h 1490308"/>
              <a:gd name="connsiteX0" fmla="*/ 0 w 1592580"/>
              <a:gd name="connsiteY0" fmla="*/ 1485900 h 1487115"/>
              <a:gd name="connsiteX1" fmla="*/ 487680 w 1592580"/>
              <a:gd name="connsiteY1" fmla="*/ 1295400 h 1487115"/>
              <a:gd name="connsiteX2" fmla="*/ 1196340 w 1592580"/>
              <a:gd name="connsiteY2" fmla="*/ 278130 h 1487115"/>
              <a:gd name="connsiteX3" fmla="*/ 1592580 w 1592580"/>
              <a:gd name="connsiteY3" fmla="*/ 0 h 1487115"/>
              <a:gd name="connsiteX0" fmla="*/ 0 w 1592580"/>
              <a:gd name="connsiteY0" fmla="*/ 1485900 h 1487973"/>
              <a:gd name="connsiteX1" fmla="*/ 487680 w 1592580"/>
              <a:gd name="connsiteY1" fmla="*/ 1295400 h 1487973"/>
              <a:gd name="connsiteX2" fmla="*/ 1196340 w 1592580"/>
              <a:gd name="connsiteY2" fmla="*/ 278130 h 1487973"/>
              <a:gd name="connsiteX3" fmla="*/ 1592580 w 1592580"/>
              <a:gd name="connsiteY3" fmla="*/ 0 h 1487973"/>
              <a:gd name="connsiteX0" fmla="*/ 0 w 1592580"/>
              <a:gd name="connsiteY0" fmla="*/ 1485900 h 1487021"/>
              <a:gd name="connsiteX1" fmla="*/ 487680 w 1592580"/>
              <a:gd name="connsiteY1" fmla="*/ 1295400 h 1487021"/>
              <a:gd name="connsiteX2" fmla="*/ 982980 w 1592580"/>
              <a:gd name="connsiteY2" fmla="*/ 288290 h 1487021"/>
              <a:gd name="connsiteX3" fmla="*/ 1592580 w 1592580"/>
              <a:gd name="connsiteY3" fmla="*/ 0 h 1487021"/>
              <a:gd name="connsiteX0" fmla="*/ 0 w 1592580"/>
              <a:gd name="connsiteY0" fmla="*/ 1485900 h 1486393"/>
              <a:gd name="connsiteX1" fmla="*/ 487680 w 1592580"/>
              <a:gd name="connsiteY1" fmla="*/ 1295400 h 1486393"/>
              <a:gd name="connsiteX2" fmla="*/ 993140 w 1592580"/>
              <a:gd name="connsiteY2" fmla="*/ 405130 h 1486393"/>
              <a:gd name="connsiteX3" fmla="*/ 1592580 w 1592580"/>
              <a:gd name="connsiteY3" fmla="*/ 0 h 1486393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2311908 w 2311908"/>
              <a:gd name="connsiteY3" fmla="*/ 0 h 1516873"/>
              <a:gd name="connsiteX0" fmla="*/ 0 w 2311908"/>
              <a:gd name="connsiteY0" fmla="*/ 1526976 h 1527469"/>
              <a:gd name="connsiteX1" fmla="*/ 487680 w 2311908"/>
              <a:gd name="connsiteY1" fmla="*/ 1336476 h 1527469"/>
              <a:gd name="connsiteX2" fmla="*/ 993140 w 2311908"/>
              <a:gd name="connsiteY2" fmla="*/ 446206 h 1527469"/>
              <a:gd name="connsiteX3" fmla="*/ 2311908 w 2311908"/>
              <a:gd name="connsiteY3" fmla="*/ 10596 h 1527469"/>
              <a:gd name="connsiteX0" fmla="*/ 0 w 2311908"/>
              <a:gd name="connsiteY0" fmla="*/ 1523003 h 1523496"/>
              <a:gd name="connsiteX1" fmla="*/ 487680 w 2311908"/>
              <a:gd name="connsiteY1" fmla="*/ 1332503 h 1523496"/>
              <a:gd name="connsiteX2" fmla="*/ 993140 w 2311908"/>
              <a:gd name="connsiteY2" fmla="*/ 442233 h 1523496"/>
              <a:gd name="connsiteX3" fmla="*/ 1580964 w 2311908"/>
              <a:gd name="connsiteY3" fmla="*/ 43063 h 1523496"/>
              <a:gd name="connsiteX4" fmla="*/ 2311908 w 2311908"/>
              <a:gd name="connsiteY4" fmla="*/ 6623 h 1523496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1580964 w 2311908"/>
              <a:gd name="connsiteY3" fmla="*/ 36440 h 1516873"/>
              <a:gd name="connsiteX4" fmla="*/ 2311908 w 2311908"/>
              <a:gd name="connsiteY4" fmla="*/ 0 h 1516873"/>
              <a:gd name="connsiteX0" fmla="*/ 0 w 2316988"/>
              <a:gd name="connsiteY0" fmla="*/ 1493520 h 1494013"/>
              <a:gd name="connsiteX1" fmla="*/ 487680 w 2316988"/>
              <a:gd name="connsiteY1" fmla="*/ 1303020 h 1494013"/>
              <a:gd name="connsiteX2" fmla="*/ 993140 w 2316988"/>
              <a:gd name="connsiteY2" fmla="*/ 412750 h 1494013"/>
              <a:gd name="connsiteX3" fmla="*/ 1580964 w 2316988"/>
              <a:gd name="connsiteY3" fmla="*/ 13580 h 1494013"/>
              <a:gd name="connsiteX4" fmla="*/ 2316988 w 2316988"/>
              <a:gd name="connsiteY4" fmla="*/ 0 h 1494013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80964 w 2614744"/>
              <a:gd name="connsiteY3" fmla="*/ 69851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599504"/>
              <a:gd name="connsiteY0" fmla="*/ 1504072 h 1504565"/>
              <a:gd name="connsiteX1" fmla="*/ 487680 w 2599504"/>
              <a:gd name="connsiteY1" fmla="*/ 1313572 h 1504565"/>
              <a:gd name="connsiteX2" fmla="*/ 993140 w 2599504"/>
              <a:gd name="connsiteY2" fmla="*/ 423302 h 1504565"/>
              <a:gd name="connsiteX3" fmla="*/ 1578424 w 2599504"/>
              <a:gd name="connsiteY3" fmla="*/ 22861 h 1504565"/>
              <a:gd name="connsiteX4" fmla="*/ 2599504 w 2599504"/>
              <a:gd name="connsiteY4" fmla="*/ 0 h 1504565"/>
              <a:gd name="connsiteX0" fmla="*/ 0 w 2574104"/>
              <a:gd name="connsiteY0" fmla="*/ 1549791 h 1550284"/>
              <a:gd name="connsiteX1" fmla="*/ 487680 w 2574104"/>
              <a:gd name="connsiteY1" fmla="*/ 1359291 h 1550284"/>
              <a:gd name="connsiteX2" fmla="*/ 993140 w 2574104"/>
              <a:gd name="connsiteY2" fmla="*/ 469021 h 1550284"/>
              <a:gd name="connsiteX3" fmla="*/ 1578424 w 2574104"/>
              <a:gd name="connsiteY3" fmla="*/ 68580 h 1550284"/>
              <a:gd name="connsiteX4" fmla="*/ 2574104 w 2574104"/>
              <a:gd name="connsiteY4" fmla="*/ 0 h 1550284"/>
              <a:gd name="connsiteX0" fmla="*/ 0 w 2574104"/>
              <a:gd name="connsiteY0" fmla="*/ 1504072 h 1504565"/>
              <a:gd name="connsiteX1" fmla="*/ 487680 w 2574104"/>
              <a:gd name="connsiteY1" fmla="*/ 1313572 h 1504565"/>
              <a:gd name="connsiteX2" fmla="*/ 993140 w 2574104"/>
              <a:gd name="connsiteY2" fmla="*/ 423302 h 1504565"/>
              <a:gd name="connsiteX3" fmla="*/ 1578424 w 2574104"/>
              <a:gd name="connsiteY3" fmla="*/ 22861 h 1504565"/>
              <a:gd name="connsiteX4" fmla="*/ 2574104 w 2574104"/>
              <a:gd name="connsiteY4" fmla="*/ 0 h 1504565"/>
              <a:gd name="connsiteX0" fmla="*/ 0 w 2259144"/>
              <a:gd name="connsiteY0" fmla="*/ 1481211 h 1481704"/>
              <a:gd name="connsiteX1" fmla="*/ 487680 w 2259144"/>
              <a:gd name="connsiteY1" fmla="*/ 1290711 h 1481704"/>
              <a:gd name="connsiteX2" fmla="*/ 993140 w 2259144"/>
              <a:gd name="connsiteY2" fmla="*/ 400441 h 1481704"/>
              <a:gd name="connsiteX3" fmla="*/ 1578424 w 2259144"/>
              <a:gd name="connsiteY3" fmla="*/ 0 h 1481704"/>
              <a:gd name="connsiteX4" fmla="*/ 2259144 w 2259144"/>
              <a:gd name="connsiteY4" fmla="*/ 22858 h 1481704"/>
              <a:gd name="connsiteX0" fmla="*/ 0 w 2248984"/>
              <a:gd name="connsiteY0" fmla="*/ 1526930 h 1527423"/>
              <a:gd name="connsiteX1" fmla="*/ 487680 w 2248984"/>
              <a:gd name="connsiteY1" fmla="*/ 1336430 h 1527423"/>
              <a:gd name="connsiteX2" fmla="*/ 993140 w 2248984"/>
              <a:gd name="connsiteY2" fmla="*/ 446160 h 1527423"/>
              <a:gd name="connsiteX3" fmla="*/ 1578424 w 2248984"/>
              <a:gd name="connsiteY3" fmla="*/ 45719 h 1527423"/>
              <a:gd name="connsiteX4" fmla="*/ 2248984 w 2248984"/>
              <a:gd name="connsiteY4" fmla="*/ 0 h 1527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8984" h="1527423">
                <a:moveTo>
                  <a:pt x="0" y="1526930"/>
                </a:moveTo>
                <a:cubicBezTo>
                  <a:pt x="287020" y="1530740"/>
                  <a:pt x="322157" y="1516558"/>
                  <a:pt x="487680" y="1336430"/>
                </a:cubicBezTo>
                <a:cubicBezTo>
                  <a:pt x="653203" y="1156302"/>
                  <a:pt x="807116" y="660643"/>
                  <a:pt x="993140" y="446160"/>
                </a:cubicBezTo>
                <a:cubicBezTo>
                  <a:pt x="1179164" y="231677"/>
                  <a:pt x="1307914" y="68579"/>
                  <a:pt x="1578424" y="45719"/>
                </a:cubicBezTo>
                <a:lnTo>
                  <a:pt x="2248984" y="0"/>
                </a:ln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0818DC8B-A388-055C-0BD9-55C08320BCA5}"/>
              </a:ext>
            </a:extLst>
          </p:cNvPr>
          <p:cNvSpPr/>
          <p:nvPr/>
        </p:nvSpPr>
        <p:spPr>
          <a:xfrm>
            <a:off x="6937525" y="3284846"/>
            <a:ext cx="2248984" cy="1527423"/>
          </a:xfrm>
          <a:custGeom>
            <a:avLst/>
            <a:gdLst>
              <a:gd name="connsiteX0" fmla="*/ 0 w 1592580"/>
              <a:gd name="connsiteY0" fmla="*/ 1512570 h 1625515"/>
              <a:gd name="connsiteX1" fmla="*/ 285750 w 1592580"/>
              <a:gd name="connsiteY1" fmla="*/ 1504950 h 1625515"/>
              <a:gd name="connsiteX2" fmla="*/ 1196340 w 1592580"/>
              <a:gd name="connsiteY2" fmla="*/ 278130 h 1625515"/>
              <a:gd name="connsiteX3" fmla="*/ 1592580 w 1592580"/>
              <a:gd name="connsiteY3" fmla="*/ 0 h 1625515"/>
              <a:gd name="connsiteX0" fmla="*/ 0 w 1592580"/>
              <a:gd name="connsiteY0" fmla="*/ 1512570 h 1554114"/>
              <a:gd name="connsiteX1" fmla="*/ 499110 w 1592580"/>
              <a:gd name="connsiteY1" fmla="*/ 1322070 h 1554114"/>
              <a:gd name="connsiteX2" fmla="*/ 1196340 w 1592580"/>
              <a:gd name="connsiteY2" fmla="*/ 278130 h 1554114"/>
              <a:gd name="connsiteX3" fmla="*/ 1592580 w 1592580"/>
              <a:gd name="connsiteY3" fmla="*/ 0 h 1554114"/>
              <a:gd name="connsiteX0" fmla="*/ 0 w 1592580"/>
              <a:gd name="connsiteY0" fmla="*/ 1512570 h 1548707"/>
              <a:gd name="connsiteX1" fmla="*/ 499110 w 1592580"/>
              <a:gd name="connsiteY1" fmla="*/ 1322070 h 1548707"/>
              <a:gd name="connsiteX2" fmla="*/ 1196340 w 1592580"/>
              <a:gd name="connsiteY2" fmla="*/ 278130 h 1548707"/>
              <a:gd name="connsiteX3" fmla="*/ 1592580 w 1592580"/>
              <a:gd name="connsiteY3" fmla="*/ 0 h 1548707"/>
              <a:gd name="connsiteX0" fmla="*/ 0 w 1592580"/>
              <a:gd name="connsiteY0" fmla="*/ 1485900 h 1532343"/>
              <a:gd name="connsiteX1" fmla="*/ 499110 w 1592580"/>
              <a:gd name="connsiteY1" fmla="*/ 1322070 h 1532343"/>
              <a:gd name="connsiteX2" fmla="*/ 1196340 w 1592580"/>
              <a:gd name="connsiteY2" fmla="*/ 278130 h 1532343"/>
              <a:gd name="connsiteX3" fmla="*/ 1592580 w 1592580"/>
              <a:gd name="connsiteY3" fmla="*/ 0 h 1532343"/>
              <a:gd name="connsiteX0" fmla="*/ 0 w 1592580"/>
              <a:gd name="connsiteY0" fmla="*/ 1485900 h 1490308"/>
              <a:gd name="connsiteX1" fmla="*/ 499110 w 1592580"/>
              <a:gd name="connsiteY1" fmla="*/ 1322070 h 1490308"/>
              <a:gd name="connsiteX2" fmla="*/ 1196340 w 1592580"/>
              <a:gd name="connsiteY2" fmla="*/ 278130 h 1490308"/>
              <a:gd name="connsiteX3" fmla="*/ 1592580 w 1592580"/>
              <a:gd name="connsiteY3" fmla="*/ 0 h 1490308"/>
              <a:gd name="connsiteX0" fmla="*/ 0 w 1592580"/>
              <a:gd name="connsiteY0" fmla="*/ 1485900 h 1487115"/>
              <a:gd name="connsiteX1" fmla="*/ 487680 w 1592580"/>
              <a:gd name="connsiteY1" fmla="*/ 1295400 h 1487115"/>
              <a:gd name="connsiteX2" fmla="*/ 1196340 w 1592580"/>
              <a:gd name="connsiteY2" fmla="*/ 278130 h 1487115"/>
              <a:gd name="connsiteX3" fmla="*/ 1592580 w 1592580"/>
              <a:gd name="connsiteY3" fmla="*/ 0 h 1487115"/>
              <a:gd name="connsiteX0" fmla="*/ 0 w 1592580"/>
              <a:gd name="connsiteY0" fmla="*/ 1485900 h 1487973"/>
              <a:gd name="connsiteX1" fmla="*/ 487680 w 1592580"/>
              <a:gd name="connsiteY1" fmla="*/ 1295400 h 1487973"/>
              <a:gd name="connsiteX2" fmla="*/ 1196340 w 1592580"/>
              <a:gd name="connsiteY2" fmla="*/ 278130 h 1487973"/>
              <a:gd name="connsiteX3" fmla="*/ 1592580 w 1592580"/>
              <a:gd name="connsiteY3" fmla="*/ 0 h 1487973"/>
              <a:gd name="connsiteX0" fmla="*/ 0 w 1592580"/>
              <a:gd name="connsiteY0" fmla="*/ 1485900 h 1487021"/>
              <a:gd name="connsiteX1" fmla="*/ 487680 w 1592580"/>
              <a:gd name="connsiteY1" fmla="*/ 1295400 h 1487021"/>
              <a:gd name="connsiteX2" fmla="*/ 982980 w 1592580"/>
              <a:gd name="connsiteY2" fmla="*/ 288290 h 1487021"/>
              <a:gd name="connsiteX3" fmla="*/ 1592580 w 1592580"/>
              <a:gd name="connsiteY3" fmla="*/ 0 h 1487021"/>
              <a:gd name="connsiteX0" fmla="*/ 0 w 1592580"/>
              <a:gd name="connsiteY0" fmla="*/ 1485900 h 1486393"/>
              <a:gd name="connsiteX1" fmla="*/ 487680 w 1592580"/>
              <a:gd name="connsiteY1" fmla="*/ 1295400 h 1486393"/>
              <a:gd name="connsiteX2" fmla="*/ 993140 w 1592580"/>
              <a:gd name="connsiteY2" fmla="*/ 405130 h 1486393"/>
              <a:gd name="connsiteX3" fmla="*/ 1592580 w 1592580"/>
              <a:gd name="connsiteY3" fmla="*/ 0 h 1486393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2311908 w 2311908"/>
              <a:gd name="connsiteY3" fmla="*/ 0 h 1516873"/>
              <a:gd name="connsiteX0" fmla="*/ 0 w 2311908"/>
              <a:gd name="connsiteY0" fmla="*/ 1526976 h 1527469"/>
              <a:gd name="connsiteX1" fmla="*/ 487680 w 2311908"/>
              <a:gd name="connsiteY1" fmla="*/ 1336476 h 1527469"/>
              <a:gd name="connsiteX2" fmla="*/ 993140 w 2311908"/>
              <a:gd name="connsiteY2" fmla="*/ 446206 h 1527469"/>
              <a:gd name="connsiteX3" fmla="*/ 2311908 w 2311908"/>
              <a:gd name="connsiteY3" fmla="*/ 10596 h 1527469"/>
              <a:gd name="connsiteX0" fmla="*/ 0 w 2311908"/>
              <a:gd name="connsiteY0" fmla="*/ 1523003 h 1523496"/>
              <a:gd name="connsiteX1" fmla="*/ 487680 w 2311908"/>
              <a:gd name="connsiteY1" fmla="*/ 1332503 h 1523496"/>
              <a:gd name="connsiteX2" fmla="*/ 993140 w 2311908"/>
              <a:gd name="connsiteY2" fmla="*/ 442233 h 1523496"/>
              <a:gd name="connsiteX3" fmla="*/ 1580964 w 2311908"/>
              <a:gd name="connsiteY3" fmla="*/ 43063 h 1523496"/>
              <a:gd name="connsiteX4" fmla="*/ 2311908 w 2311908"/>
              <a:gd name="connsiteY4" fmla="*/ 6623 h 1523496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1580964 w 2311908"/>
              <a:gd name="connsiteY3" fmla="*/ 36440 h 1516873"/>
              <a:gd name="connsiteX4" fmla="*/ 2311908 w 2311908"/>
              <a:gd name="connsiteY4" fmla="*/ 0 h 1516873"/>
              <a:gd name="connsiteX0" fmla="*/ 0 w 2316988"/>
              <a:gd name="connsiteY0" fmla="*/ 1493520 h 1494013"/>
              <a:gd name="connsiteX1" fmla="*/ 487680 w 2316988"/>
              <a:gd name="connsiteY1" fmla="*/ 1303020 h 1494013"/>
              <a:gd name="connsiteX2" fmla="*/ 993140 w 2316988"/>
              <a:gd name="connsiteY2" fmla="*/ 412750 h 1494013"/>
              <a:gd name="connsiteX3" fmla="*/ 1580964 w 2316988"/>
              <a:gd name="connsiteY3" fmla="*/ 13580 h 1494013"/>
              <a:gd name="connsiteX4" fmla="*/ 2316988 w 2316988"/>
              <a:gd name="connsiteY4" fmla="*/ 0 h 1494013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80964 w 2614744"/>
              <a:gd name="connsiteY3" fmla="*/ 69851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599504"/>
              <a:gd name="connsiteY0" fmla="*/ 1504072 h 1504565"/>
              <a:gd name="connsiteX1" fmla="*/ 487680 w 2599504"/>
              <a:gd name="connsiteY1" fmla="*/ 1313572 h 1504565"/>
              <a:gd name="connsiteX2" fmla="*/ 993140 w 2599504"/>
              <a:gd name="connsiteY2" fmla="*/ 423302 h 1504565"/>
              <a:gd name="connsiteX3" fmla="*/ 1578424 w 2599504"/>
              <a:gd name="connsiteY3" fmla="*/ 22861 h 1504565"/>
              <a:gd name="connsiteX4" fmla="*/ 2599504 w 2599504"/>
              <a:gd name="connsiteY4" fmla="*/ 0 h 1504565"/>
              <a:gd name="connsiteX0" fmla="*/ 0 w 2574104"/>
              <a:gd name="connsiteY0" fmla="*/ 1549791 h 1550284"/>
              <a:gd name="connsiteX1" fmla="*/ 487680 w 2574104"/>
              <a:gd name="connsiteY1" fmla="*/ 1359291 h 1550284"/>
              <a:gd name="connsiteX2" fmla="*/ 993140 w 2574104"/>
              <a:gd name="connsiteY2" fmla="*/ 469021 h 1550284"/>
              <a:gd name="connsiteX3" fmla="*/ 1578424 w 2574104"/>
              <a:gd name="connsiteY3" fmla="*/ 68580 h 1550284"/>
              <a:gd name="connsiteX4" fmla="*/ 2574104 w 2574104"/>
              <a:gd name="connsiteY4" fmla="*/ 0 h 1550284"/>
              <a:gd name="connsiteX0" fmla="*/ 0 w 2574104"/>
              <a:gd name="connsiteY0" fmla="*/ 1504072 h 1504565"/>
              <a:gd name="connsiteX1" fmla="*/ 487680 w 2574104"/>
              <a:gd name="connsiteY1" fmla="*/ 1313572 h 1504565"/>
              <a:gd name="connsiteX2" fmla="*/ 993140 w 2574104"/>
              <a:gd name="connsiteY2" fmla="*/ 423302 h 1504565"/>
              <a:gd name="connsiteX3" fmla="*/ 1578424 w 2574104"/>
              <a:gd name="connsiteY3" fmla="*/ 22861 h 1504565"/>
              <a:gd name="connsiteX4" fmla="*/ 2574104 w 2574104"/>
              <a:gd name="connsiteY4" fmla="*/ 0 h 1504565"/>
              <a:gd name="connsiteX0" fmla="*/ 0 w 2259144"/>
              <a:gd name="connsiteY0" fmla="*/ 1481211 h 1481704"/>
              <a:gd name="connsiteX1" fmla="*/ 487680 w 2259144"/>
              <a:gd name="connsiteY1" fmla="*/ 1290711 h 1481704"/>
              <a:gd name="connsiteX2" fmla="*/ 993140 w 2259144"/>
              <a:gd name="connsiteY2" fmla="*/ 400441 h 1481704"/>
              <a:gd name="connsiteX3" fmla="*/ 1578424 w 2259144"/>
              <a:gd name="connsiteY3" fmla="*/ 0 h 1481704"/>
              <a:gd name="connsiteX4" fmla="*/ 2259144 w 2259144"/>
              <a:gd name="connsiteY4" fmla="*/ 22858 h 1481704"/>
              <a:gd name="connsiteX0" fmla="*/ 0 w 2248984"/>
              <a:gd name="connsiteY0" fmla="*/ 1526930 h 1527423"/>
              <a:gd name="connsiteX1" fmla="*/ 487680 w 2248984"/>
              <a:gd name="connsiteY1" fmla="*/ 1336430 h 1527423"/>
              <a:gd name="connsiteX2" fmla="*/ 993140 w 2248984"/>
              <a:gd name="connsiteY2" fmla="*/ 446160 h 1527423"/>
              <a:gd name="connsiteX3" fmla="*/ 1578424 w 2248984"/>
              <a:gd name="connsiteY3" fmla="*/ 45719 h 1527423"/>
              <a:gd name="connsiteX4" fmla="*/ 2248984 w 2248984"/>
              <a:gd name="connsiteY4" fmla="*/ 0 h 1527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8984" h="1527423">
                <a:moveTo>
                  <a:pt x="0" y="1526930"/>
                </a:moveTo>
                <a:cubicBezTo>
                  <a:pt x="287020" y="1530740"/>
                  <a:pt x="322157" y="1516558"/>
                  <a:pt x="487680" y="1336430"/>
                </a:cubicBezTo>
                <a:cubicBezTo>
                  <a:pt x="653203" y="1156302"/>
                  <a:pt x="807116" y="660643"/>
                  <a:pt x="993140" y="446160"/>
                </a:cubicBezTo>
                <a:cubicBezTo>
                  <a:pt x="1179164" y="231677"/>
                  <a:pt x="1307914" y="68579"/>
                  <a:pt x="1578424" y="45719"/>
                </a:cubicBezTo>
                <a:lnTo>
                  <a:pt x="2248984" y="0"/>
                </a:ln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2681E303-E7EE-7BB4-DEB7-899F4932FB1D}"/>
              </a:ext>
            </a:extLst>
          </p:cNvPr>
          <p:cNvSpPr/>
          <p:nvPr/>
        </p:nvSpPr>
        <p:spPr>
          <a:xfrm>
            <a:off x="6980161" y="3459350"/>
            <a:ext cx="2248984" cy="1527423"/>
          </a:xfrm>
          <a:custGeom>
            <a:avLst/>
            <a:gdLst>
              <a:gd name="connsiteX0" fmla="*/ 0 w 1592580"/>
              <a:gd name="connsiteY0" fmla="*/ 1512570 h 1625515"/>
              <a:gd name="connsiteX1" fmla="*/ 285750 w 1592580"/>
              <a:gd name="connsiteY1" fmla="*/ 1504950 h 1625515"/>
              <a:gd name="connsiteX2" fmla="*/ 1196340 w 1592580"/>
              <a:gd name="connsiteY2" fmla="*/ 278130 h 1625515"/>
              <a:gd name="connsiteX3" fmla="*/ 1592580 w 1592580"/>
              <a:gd name="connsiteY3" fmla="*/ 0 h 1625515"/>
              <a:gd name="connsiteX0" fmla="*/ 0 w 1592580"/>
              <a:gd name="connsiteY0" fmla="*/ 1512570 h 1554114"/>
              <a:gd name="connsiteX1" fmla="*/ 499110 w 1592580"/>
              <a:gd name="connsiteY1" fmla="*/ 1322070 h 1554114"/>
              <a:gd name="connsiteX2" fmla="*/ 1196340 w 1592580"/>
              <a:gd name="connsiteY2" fmla="*/ 278130 h 1554114"/>
              <a:gd name="connsiteX3" fmla="*/ 1592580 w 1592580"/>
              <a:gd name="connsiteY3" fmla="*/ 0 h 1554114"/>
              <a:gd name="connsiteX0" fmla="*/ 0 w 1592580"/>
              <a:gd name="connsiteY0" fmla="*/ 1512570 h 1548707"/>
              <a:gd name="connsiteX1" fmla="*/ 499110 w 1592580"/>
              <a:gd name="connsiteY1" fmla="*/ 1322070 h 1548707"/>
              <a:gd name="connsiteX2" fmla="*/ 1196340 w 1592580"/>
              <a:gd name="connsiteY2" fmla="*/ 278130 h 1548707"/>
              <a:gd name="connsiteX3" fmla="*/ 1592580 w 1592580"/>
              <a:gd name="connsiteY3" fmla="*/ 0 h 1548707"/>
              <a:gd name="connsiteX0" fmla="*/ 0 w 1592580"/>
              <a:gd name="connsiteY0" fmla="*/ 1485900 h 1532343"/>
              <a:gd name="connsiteX1" fmla="*/ 499110 w 1592580"/>
              <a:gd name="connsiteY1" fmla="*/ 1322070 h 1532343"/>
              <a:gd name="connsiteX2" fmla="*/ 1196340 w 1592580"/>
              <a:gd name="connsiteY2" fmla="*/ 278130 h 1532343"/>
              <a:gd name="connsiteX3" fmla="*/ 1592580 w 1592580"/>
              <a:gd name="connsiteY3" fmla="*/ 0 h 1532343"/>
              <a:gd name="connsiteX0" fmla="*/ 0 w 1592580"/>
              <a:gd name="connsiteY0" fmla="*/ 1485900 h 1490308"/>
              <a:gd name="connsiteX1" fmla="*/ 499110 w 1592580"/>
              <a:gd name="connsiteY1" fmla="*/ 1322070 h 1490308"/>
              <a:gd name="connsiteX2" fmla="*/ 1196340 w 1592580"/>
              <a:gd name="connsiteY2" fmla="*/ 278130 h 1490308"/>
              <a:gd name="connsiteX3" fmla="*/ 1592580 w 1592580"/>
              <a:gd name="connsiteY3" fmla="*/ 0 h 1490308"/>
              <a:gd name="connsiteX0" fmla="*/ 0 w 1592580"/>
              <a:gd name="connsiteY0" fmla="*/ 1485900 h 1487115"/>
              <a:gd name="connsiteX1" fmla="*/ 487680 w 1592580"/>
              <a:gd name="connsiteY1" fmla="*/ 1295400 h 1487115"/>
              <a:gd name="connsiteX2" fmla="*/ 1196340 w 1592580"/>
              <a:gd name="connsiteY2" fmla="*/ 278130 h 1487115"/>
              <a:gd name="connsiteX3" fmla="*/ 1592580 w 1592580"/>
              <a:gd name="connsiteY3" fmla="*/ 0 h 1487115"/>
              <a:gd name="connsiteX0" fmla="*/ 0 w 1592580"/>
              <a:gd name="connsiteY0" fmla="*/ 1485900 h 1487973"/>
              <a:gd name="connsiteX1" fmla="*/ 487680 w 1592580"/>
              <a:gd name="connsiteY1" fmla="*/ 1295400 h 1487973"/>
              <a:gd name="connsiteX2" fmla="*/ 1196340 w 1592580"/>
              <a:gd name="connsiteY2" fmla="*/ 278130 h 1487973"/>
              <a:gd name="connsiteX3" fmla="*/ 1592580 w 1592580"/>
              <a:gd name="connsiteY3" fmla="*/ 0 h 1487973"/>
              <a:gd name="connsiteX0" fmla="*/ 0 w 1592580"/>
              <a:gd name="connsiteY0" fmla="*/ 1485900 h 1487021"/>
              <a:gd name="connsiteX1" fmla="*/ 487680 w 1592580"/>
              <a:gd name="connsiteY1" fmla="*/ 1295400 h 1487021"/>
              <a:gd name="connsiteX2" fmla="*/ 982980 w 1592580"/>
              <a:gd name="connsiteY2" fmla="*/ 288290 h 1487021"/>
              <a:gd name="connsiteX3" fmla="*/ 1592580 w 1592580"/>
              <a:gd name="connsiteY3" fmla="*/ 0 h 1487021"/>
              <a:gd name="connsiteX0" fmla="*/ 0 w 1592580"/>
              <a:gd name="connsiteY0" fmla="*/ 1485900 h 1486393"/>
              <a:gd name="connsiteX1" fmla="*/ 487680 w 1592580"/>
              <a:gd name="connsiteY1" fmla="*/ 1295400 h 1486393"/>
              <a:gd name="connsiteX2" fmla="*/ 993140 w 1592580"/>
              <a:gd name="connsiteY2" fmla="*/ 405130 h 1486393"/>
              <a:gd name="connsiteX3" fmla="*/ 1592580 w 1592580"/>
              <a:gd name="connsiteY3" fmla="*/ 0 h 1486393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2311908 w 2311908"/>
              <a:gd name="connsiteY3" fmla="*/ 0 h 1516873"/>
              <a:gd name="connsiteX0" fmla="*/ 0 w 2311908"/>
              <a:gd name="connsiteY0" fmla="*/ 1526976 h 1527469"/>
              <a:gd name="connsiteX1" fmla="*/ 487680 w 2311908"/>
              <a:gd name="connsiteY1" fmla="*/ 1336476 h 1527469"/>
              <a:gd name="connsiteX2" fmla="*/ 993140 w 2311908"/>
              <a:gd name="connsiteY2" fmla="*/ 446206 h 1527469"/>
              <a:gd name="connsiteX3" fmla="*/ 2311908 w 2311908"/>
              <a:gd name="connsiteY3" fmla="*/ 10596 h 1527469"/>
              <a:gd name="connsiteX0" fmla="*/ 0 w 2311908"/>
              <a:gd name="connsiteY0" fmla="*/ 1523003 h 1523496"/>
              <a:gd name="connsiteX1" fmla="*/ 487680 w 2311908"/>
              <a:gd name="connsiteY1" fmla="*/ 1332503 h 1523496"/>
              <a:gd name="connsiteX2" fmla="*/ 993140 w 2311908"/>
              <a:gd name="connsiteY2" fmla="*/ 442233 h 1523496"/>
              <a:gd name="connsiteX3" fmla="*/ 1580964 w 2311908"/>
              <a:gd name="connsiteY3" fmla="*/ 43063 h 1523496"/>
              <a:gd name="connsiteX4" fmla="*/ 2311908 w 2311908"/>
              <a:gd name="connsiteY4" fmla="*/ 6623 h 1523496"/>
              <a:gd name="connsiteX0" fmla="*/ 0 w 2311908"/>
              <a:gd name="connsiteY0" fmla="*/ 1516380 h 1516873"/>
              <a:gd name="connsiteX1" fmla="*/ 487680 w 2311908"/>
              <a:gd name="connsiteY1" fmla="*/ 1325880 h 1516873"/>
              <a:gd name="connsiteX2" fmla="*/ 993140 w 2311908"/>
              <a:gd name="connsiteY2" fmla="*/ 435610 h 1516873"/>
              <a:gd name="connsiteX3" fmla="*/ 1580964 w 2311908"/>
              <a:gd name="connsiteY3" fmla="*/ 36440 h 1516873"/>
              <a:gd name="connsiteX4" fmla="*/ 2311908 w 2311908"/>
              <a:gd name="connsiteY4" fmla="*/ 0 h 1516873"/>
              <a:gd name="connsiteX0" fmla="*/ 0 w 2316988"/>
              <a:gd name="connsiteY0" fmla="*/ 1493520 h 1494013"/>
              <a:gd name="connsiteX1" fmla="*/ 487680 w 2316988"/>
              <a:gd name="connsiteY1" fmla="*/ 1303020 h 1494013"/>
              <a:gd name="connsiteX2" fmla="*/ 993140 w 2316988"/>
              <a:gd name="connsiteY2" fmla="*/ 412750 h 1494013"/>
              <a:gd name="connsiteX3" fmla="*/ 1580964 w 2316988"/>
              <a:gd name="connsiteY3" fmla="*/ 13580 h 1494013"/>
              <a:gd name="connsiteX4" fmla="*/ 2316988 w 2316988"/>
              <a:gd name="connsiteY4" fmla="*/ 0 h 1494013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80964 w 2614744"/>
              <a:gd name="connsiteY3" fmla="*/ 69851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614744"/>
              <a:gd name="connsiteY0" fmla="*/ 1549791 h 1550284"/>
              <a:gd name="connsiteX1" fmla="*/ 487680 w 2614744"/>
              <a:gd name="connsiteY1" fmla="*/ 1359291 h 1550284"/>
              <a:gd name="connsiteX2" fmla="*/ 993140 w 2614744"/>
              <a:gd name="connsiteY2" fmla="*/ 469021 h 1550284"/>
              <a:gd name="connsiteX3" fmla="*/ 1578424 w 2614744"/>
              <a:gd name="connsiteY3" fmla="*/ 68580 h 1550284"/>
              <a:gd name="connsiteX4" fmla="*/ 2614744 w 2614744"/>
              <a:gd name="connsiteY4" fmla="*/ 0 h 1550284"/>
              <a:gd name="connsiteX0" fmla="*/ 0 w 2599504"/>
              <a:gd name="connsiteY0" fmla="*/ 1504072 h 1504565"/>
              <a:gd name="connsiteX1" fmla="*/ 487680 w 2599504"/>
              <a:gd name="connsiteY1" fmla="*/ 1313572 h 1504565"/>
              <a:gd name="connsiteX2" fmla="*/ 993140 w 2599504"/>
              <a:gd name="connsiteY2" fmla="*/ 423302 h 1504565"/>
              <a:gd name="connsiteX3" fmla="*/ 1578424 w 2599504"/>
              <a:gd name="connsiteY3" fmla="*/ 22861 h 1504565"/>
              <a:gd name="connsiteX4" fmla="*/ 2599504 w 2599504"/>
              <a:gd name="connsiteY4" fmla="*/ 0 h 1504565"/>
              <a:gd name="connsiteX0" fmla="*/ 0 w 2574104"/>
              <a:gd name="connsiteY0" fmla="*/ 1549791 h 1550284"/>
              <a:gd name="connsiteX1" fmla="*/ 487680 w 2574104"/>
              <a:gd name="connsiteY1" fmla="*/ 1359291 h 1550284"/>
              <a:gd name="connsiteX2" fmla="*/ 993140 w 2574104"/>
              <a:gd name="connsiteY2" fmla="*/ 469021 h 1550284"/>
              <a:gd name="connsiteX3" fmla="*/ 1578424 w 2574104"/>
              <a:gd name="connsiteY3" fmla="*/ 68580 h 1550284"/>
              <a:gd name="connsiteX4" fmla="*/ 2574104 w 2574104"/>
              <a:gd name="connsiteY4" fmla="*/ 0 h 1550284"/>
              <a:gd name="connsiteX0" fmla="*/ 0 w 2574104"/>
              <a:gd name="connsiteY0" fmla="*/ 1504072 h 1504565"/>
              <a:gd name="connsiteX1" fmla="*/ 487680 w 2574104"/>
              <a:gd name="connsiteY1" fmla="*/ 1313572 h 1504565"/>
              <a:gd name="connsiteX2" fmla="*/ 993140 w 2574104"/>
              <a:gd name="connsiteY2" fmla="*/ 423302 h 1504565"/>
              <a:gd name="connsiteX3" fmla="*/ 1578424 w 2574104"/>
              <a:gd name="connsiteY3" fmla="*/ 22861 h 1504565"/>
              <a:gd name="connsiteX4" fmla="*/ 2574104 w 2574104"/>
              <a:gd name="connsiteY4" fmla="*/ 0 h 1504565"/>
              <a:gd name="connsiteX0" fmla="*/ 0 w 2259144"/>
              <a:gd name="connsiteY0" fmla="*/ 1481211 h 1481704"/>
              <a:gd name="connsiteX1" fmla="*/ 487680 w 2259144"/>
              <a:gd name="connsiteY1" fmla="*/ 1290711 h 1481704"/>
              <a:gd name="connsiteX2" fmla="*/ 993140 w 2259144"/>
              <a:gd name="connsiteY2" fmla="*/ 400441 h 1481704"/>
              <a:gd name="connsiteX3" fmla="*/ 1578424 w 2259144"/>
              <a:gd name="connsiteY3" fmla="*/ 0 h 1481704"/>
              <a:gd name="connsiteX4" fmla="*/ 2259144 w 2259144"/>
              <a:gd name="connsiteY4" fmla="*/ 22858 h 1481704"/>
              <a:gd name="connsiteX0" fmla="*/ 0 w 2248984"/>
              <a:gd name="connsiteY0" fmla="*/ 1526930 h 1527423"/>
              <a:gd name="connsiteX1" fmla="*/ 487680 w 2248984"/>
              <a:gd name="connsiteY1" fmla="*/ 1336430 h 1527423"/>
              <a:gd name="connsiteX2" fmla="*/ 993140 w 2248984"/>
              <a:gd name="connsiteY2" fmla="*/ 446160 h 1527423"/>
              <a:gd name="connsiteX3" fmla="*/ 1578424 w 2248984"/>
              <a:gd name="connsiteY3" fmla="*/ 45719 h 1527423"/>
              <a:gd name="connsiteX4" fmla="*/ 2248984 w 2248984"/>
              <a:gd name="connsiteY4" fmla="*/ 0 h 1527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8984" h="1527423">
                <a:moveTo>
                  <a:pt x="0" y="1526930"/>
                </a:moveTo>
                <a:cubicBezTo>
                  <a:pt x="287020" y="1530740"/>
                  <a:pt x="322157" y="1516558"/>
                  <a:pt x="487680" y="1336430"/>
                </a:cubicBezTo>
                <a:cubicBezTo>
                  <a:pt x="653203" y="1156302"/>
                  <a:pt x="807116" y="660643"/>
                  <a:pt x="993140" y="446160"/>
                </a:cubicBezTo>
                <a:cubicBezTo>
                  <a:pt x="1179164" y="231677"/>
                  <a:pt x="1307914" y="68579"/>
                  <a:pt x="1578424" y="45719"/>
                </a:cubicBezTo>
                <a:lnTo>
                  <a:pt x="2248984" y="0"/>
                </a:lnTo>
              </a:path>
            </a:pathLst>
          </a:cu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62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6478-3B48-E7E3-D059-5FF532860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35">
            <a:extLst>
              <a:ext uri="{FF2B5EF4-FFF2-40B4-BE49-F238E27FC236}">
                <a16:creationId xmlns:a16="http://schemas.microsoft.com/office/drawing/2014/main" id="{951023A2-725C-E16F-C220-4E0202D0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Characteristics</a:t>
            </a:r>
          </a:p>
        </p:txBody>
      </p:sp>
      <p:pic>
        <p:nvPicPr>
          <p:cNvPr id="4" name="Imagem 3" descr="Uma imagem com texto, file, diagrama, Tipo de letra&#10;&#10;Descrição gerada automaticamente">
            <a:extLst>
              <a:ext uri="{FF2B5EF4-FFF2-40B4-BE49-F238E27FC236}">
                <a16:creationId xmlns:a16="http://schemas.microsoft.com/office/drawing/2014/main" id="{023FE4AC-AA0C-F70B-59A1-F1514C3A2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15" y="1897209"/>
            <a:ext cx="2911755" cy="3206676"/>
          </a:xfrm>
          <a:prstGeom prst="rect">
            <a:avLst/>
          </a:prstGeom>
        </p:spPr>
      </p:pic>
      <p:pic>
        <p:nvPicPr>
          <p:cNvPr id="6" name="Imagem 5" descr="Uma imagem com texto, diagrama, file, Gráfico&#10;&#10;Descrição gerada automaticamente">
            <a:extLst>
              <a:ext uri="{FF2B5EF4-FFF2-40B4-BE49-F238E27FC236}">
                <a16:creationId xmlns:a16="http://schemas.microsoft.com/office/drawing/2014/main" id="{00983E39-44C2-B860-D77E-8CBF7DD2B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937" y="2142409"/>
            <a:ext cx="3178400" cy="3313209"/>
          </a:xfrm>
          <a:prstGeom prst="rect">
            <a:avLst/>
          </a:prstGeom>
        </p:spPr>
      </p:pic>
      <p:pic>
        <p:nvPicPr>
          <p:cNvPr id="8" name="Imagem 7" descr="Uma imagem com texto, diagrama, file, Tipo de letra&#10;&#10;Descrição gerada automaticamente">
            <a:extLst>
              <a:ext uri="{FF2B5EF4-FFF2-40B4-BE49-F238E27FC236}">
                <a16:creationId xmlns:a16="http://schemas.microsoft.com/office/drawing/2014/main" id="{17C01410-1B2E-8BFA-2C04-1310F6F06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691" y="2494144"/>
            <a:ext cx="3701901" cy="260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2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5E7F3-A39C-6591-810C-0C702D42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B27A3DD-FCF3-55D9-8C3D-EE774C700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1. </a:t>
            </a:r>
            <a:r>
              <a:rPr lang="en-US" dirty="0"/>
              <a:t>Rapid assessment on our current understanding</a:t>
            </a:r>
          </a:p>
          <a:p>
            <a:pPr marL="0" indent="0">
              <a:buNone/>
            </a:pPr>
            <a:r>
              <a:rPr lang="en-US" b="1" dirty="0"/>
              <a:t>2. Hands-on Activity: </a:t>
            </a:r>
            <a:r>
              <a:rPr lang="en-US" dirty="0"/>
              <a:t>Sensors and Navigating </a:t>
            </a:r>
            <a:r>
              <a:rPr lang="en-US" dirty="0" err="1"/>
              <a:t>Specsheets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3. Creative Catalyst: </a:t>
            </a:r>
            <a:r>
              <a:rPr lang="en-US" dirty="0"/>
              <a:t>Sensors and real-world applications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4661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83C66-DAB8-CBAB-9086-3481DDB4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67779AC-DB4A-804D-DD5A-A616E44E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A. What is the primary purpose of a sensor?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To amplify signals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To interact with the environment and allow for information extraction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To provide mechanical motion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To store data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25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182E4-AE64-2B4D-B61F-189F3E6A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495CE-464C-BCF2-F718-0F3021D4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D31E5CF-524A-759B-BE0F-36AB45A22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A. What is the primary purpose of a sensor?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To amplify signals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solidFill>
                  <a:schemeClr val="accent3"/>
                </a:solidFill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To interact with the environment and allow for information extraction</a:t>
            </a:r>
            <a:endParaRPr lang="en-US" sz="3600" kern="100" dirty="0">
              <a:solidFill>
                <a:schemeClr val="accent3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To provide mechanical motion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To store data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22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D533-B69E-5360-6635-77231D2D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AE9B5-0A00-9A44-2410-A7E44607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51B22B-F4F5-6650-8263-771B626A5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b="1" kern="100" dirty="0">
              <a:effectLst/>
              <a:latin typeface="CMU Bright" panose="02000603000000000000" pitchFamily="2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B. Which type of sensor requires external power to operate?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Passive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Active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</a:t>
            </a:r>
            <a:r>
              <a:rPr lang="pt-PT" sz="2400" kern="100" dirty="0" err="1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Analog</a:t>
            </a: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Digital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76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DE0C-F31D-6042-990E-A4469AEE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C36A7-F238-1872-B850-630989DE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EE49283-1997-7DC9-EFE9-4F9FB8CCE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b="1" kern="100" dirty="0">
              <a:effectLst/>
              <a:latin typeface="CMU Bright" panose="02000603000000000000" pitchFamily="2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B. Which type of sensor requires external power to operate?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Passive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solidFill>
                  <a:schemeClr val="accent3"/>
                </a:solidFill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Active sensor</a:t>
            </a:r>
            <a:endParaRPr lang="en-US" sz="2400" kern="100" dirty="0">
              <a:solidFill>
                <a:schemeClr val="accent3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</a:t>
            </a:r>
            <a:r>
              <a:rPr lang="pt-PT" sz="2400" kern="100" dirty="0" err="1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Analog</a:t>
            </a: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Digital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8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B389-1148-3A62-458C-A744FC90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ECCFE-7B43-2106-4C93-CD1BFEAF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A5E3246-BC56-DB03-550E-0980F9942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b="1" kern="100" dirty="0">
              <a:effectLst/>
              <a:latin typeface="CMU Bright" panose="02000603000000000000" pitchFamily="2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C. An example of a transducer that is not a sensor is: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Microphone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Thermocouple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Loudspeaker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Photodiode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32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731B1-AF4F-F8B2-6E8C-CB2E1869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ED52B-9F27-420C-0C27-145557FA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0898BDB-CC51-797E-EE06-42B54ECA7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800" b="1" kern="100" dirty="0">
              <a:effectLst/>
              <a:latin typeface="CMU Bright" panose="02000603000000000000" pitchFamily="2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C. An example of a transducer that is not a sensor is: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3"/>
                </a:solidFill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Microphone</a:t>
            </a:r>
            <a:endParaRPr lang="en-US" sz="2400" b="1" kern="100" dirty="0">
              <a:solidFill>
                <a:schemeClr val="accent3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Thermocouple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Loudspeaker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Photodiode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778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49440-68CE-63A2-A293-347141219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6414B-5797-554A-4CC7-9029B0BA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4DBE4FB-84BD-C759-0E75-97AF92750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</a:t>
            </a:r>
            <a:r>
              <a:rPr lang="en-US" sz="2000" b="1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. Which statements are true about analog and digital sensors?</a:t>
            </a:r>
            <a:endParaRPr lang="en-US" sz="2000" kern="100" dirty="0">
              <a:effectLst/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A. Analog sensors produce a continuously varying output signal, while digital sensors produce discrete outputs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B. Analog sensors are always more accurate than digital sensors.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C. Digital sensors operate without any external power, unlike analog sensors.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D. Digital sensors can only be used in wireless systems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E. Digital sensors are good for communication systems and may benefit from noise resilience</a:t>
            </a:r>
          </a:p>
        </p:txBody>
      </p:sp>
    </p:spTree>
    <p:extLst>
      <p:ext uri="{BB962C8B-B14F-4D97-AF65-F5344CB8AC3E}">
        <p14:creationId xmlns:p14="http://schemas.microsoft.com/office/powerpoint/2010/main" val="2276066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D279-A5E7-1521-39DF-54CBFE89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2022F-0203-98F6-9F45-2701661C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E94A35D-1707-0AB3-B972-71382CECC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b="1" kern="100" dirty="0"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</a:t>
            </a:r>
            <a:r>
              <a:rPr lang="en-US" sz="2000" b="1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. Which statements are true about analog and digital sensors?</a:t>
            </a:r>
            <a:endParaRPr lang="en-US" sz="2000" kern="100" dirty="0">
              <a:effectLst/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chemeClr val="accent3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A. Analog sensors produce a continuously varying output signal, while digital sensors produce discrete outputs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B. Analog sensors are always more accurate than digital sensors.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C. Digital sensors operate without any external power, unlike analog sensors.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D. Digital sensors can only be used in wireless systems</a:t>
            </a: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solidFill>
                  <a:schemeClr val="accent3"/>
                </a:solidFill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E. Digital sensors are good for communication systems and may benefit from noise resilience</a:t>
            </a:r>
          </a:p>
        </p:txBody>
      </p:sp>
    </p:spTree>
    <p:extLst>
      <p:ext uri="{BB962C8B-B14F-4D97-AF65-F5344CB8AC3E}">
        <p14:creationId xmlns:p14="http://schemas.microsoft.com/office/powerpoint/2010/main" val="912689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58D5-CA4D-372A-42DD-E0190F90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DFCB5-F0C5-0250-55F1-9F7E951D9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634D5A4-EC66-5B7A-B097-C5B6B2F8B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E. A sensor that incorporates more than one transducer is called: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Direct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Hybrid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Passive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Active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9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FEC1E-531E-5409-5D3D-221E658E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A2DE7-9E2F-A589-35A9-71725E369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5C143C9-9E66-C02A-6355-E1847405F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E. A sensor that incorporates more than one transducer is called: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Direct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3"/>
                </a:solidFill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Hybrid sensor</a:t>
            </a:r>
            <a:endParaRPr lang="en-US" sz="2400" b="1" kern="100" dirty="0">
              <a:solidFill>
                <a:schemeClr val="accent3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Passive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Active sensor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900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E9E3F-5914-CD70-34FE-406FE7761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E80F5-B4FE-40C8-770B-64C5A50D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AEBCE27-BF71-5D36-DDA8-9F2992EC8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CMU Bright" panose="02000603000000000000" pitchFamily="2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F. Dynamic range is usually expressed in: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Newtons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Volts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Decibels (dB)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Watts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31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09B9-33BB-83F8-E004-18F1D41F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36F9F-02D0-F806-EE22-5B4884398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6DE7080-C8E3-4F54-091C-3980BFD7B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kern="100" dirty="0">
              <a:effectLst/>
              <a:latin typeface="CMU Bright" panose="02000603000000000000" pitchFamily="2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F. Dynamic range is usually expressed in: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A) Newtons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B) Volts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3"/>
                </a:solidFill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C) Decibels (dB)</a:t>
            </a:r>
            <a:endParaRPr lang="en-US" sz="2400" b="1" kern="100" dirty="0">
              <a:solidFill>
                <a:schemeClr val="accent3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MU Bright" panose="02000603000000000000" pitchFamily="2" charset="0"/>
                <a:ea typeface="Aptos" panose="020B0004020202020204" pitchFamily="34" charset="0"/>
                <a:cs typeface="Arial" panose="020B0604020202020204" pitchFamily="34" charset="0"/>
              </a:rPr>
              <a:t>D) Watts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85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D8AB-96AD-101D-791E-7F81896CF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8D52E-53DE-8EC5-07C9-9CD89717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9C40ECC-5D85-785A-C0B5-07A0746A0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True or False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1. All transducers are sensors.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2. A deadband is a range of input values where the output is either zero, constant, or equal to noise.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3. The definition of a sensor includes the conversion of one form of energy into another.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4. Repeatability refers to a sensor's ability to perform as expected over a period of time.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5. A digital sensor’s output signal varies continuously within a specific range.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2000" b="1" kern="100" dirty="0">
              <a:effectLst/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797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A553-2F31-F92E-F7AD-E2E10C12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82124-7BF7-D231-B316-C1798DDA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2A00A0A-521F-9A44-BF1F-45947D6D7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2944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True or False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6</a:t>
            </a: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. Bandwidth indicates how a sensor responds to signals at different frequencies.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7</a:t>
            </a: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. Sensitivity can be expressed as a variation of the output electrical signal of a sensor and the input.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8. The accuracy of a sensor is determined using its calibration function.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9</a:t>
            </a: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. A push-button switch is a digital sensor.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+mj-lt"/>
                <a:ea typeface="Aptos" panose="020B0004020202020204" pitchFamily="34" charset="0"/>
                <a:cs typeface="Arial" panose="020B0604020202020204" pitchFamily="34" charset="0"/>
              </a:rPr>
              <a:t>10. If I want to characterize a sensor I need a calibration curve.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2000" b="1" kern="100" dirty="0">
              <a:effectLst/>
              <a:latin typeface="+mj-lt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412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4180-0C17-8DD2-4761-655B21FF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BD86A-7732-2464-68E0-F1346167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our understanding</a:t>
            </a:r>
          </a:p>
        </p:txBody>
      </p:sp>
      <p:pic>
        <p:nvPicPr>
          <p:cNvPr id="6" name="Imagem 5" descr="Uma imagem com texto, diagrama, Esquema, Paralelo&#10;&#10;Descrição gerada automaticamente">
            <a:extLst>
              <a:ext uri="{FF2B5EF4-FFF2-40B4-BE49-F238E27FC236}">
                <a16:creationId xmlns:a16="http://schemas.microsoft.com/office/drawing/2014/main" id="{E14299FE-EE27-D2FC-9F4F-73DE918B74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06" y="1477488"/>
            <a:ext cx="7602624" cy="4761265"/>
          </a:xfrm>
          <a:prstGeom prst="rect">
            <a:avLst/>
          </a:prstGeom>
          <a:noFill/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DC310AD-9A6E-8E38-B380-8FFA39A9F017}"/>
              </a:ext>
            </a:extLst>
          </p:cNvPr>
          <p:cNvSpPr txBox="1"/>
          <p:nvPr/>
        </p:nvSpPr>
        <p:spPr>
          <a:xfrm>
            <a:off x="925974" y="1837548"/>
            <a:ext cx="34839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Saturation</a:t>
            </a:r>
          </a:p>
          <a:p>
            <a:r>
              <a:rPr lang="en-US" sz="2800" dirty="0"/>
              <a:t>Dynamic Range</a:t>
            </a:r>
          </a:p>
          <a:p>
            <a:r>
              <a:rPr lang="en-US" sz="2800" dirty="0"/>
              <a:t>Bandwidth</a:t>
            </a:r>
          </a:p>
          <a:p>
            <a:r>
              <a:rPr lang="en-US" sz="2800" dirty="0"/>
              <a:t>Hysteresis</a:t>
            </a:r>
          </a:p>
          <a:p>
            <a:r>
              <a:rPr lang="en-US" sz="2800" dirty="0"/>
              <a:t>Rise Time</a:t>
            </a:r>
          </a:p>
          <a:p>
            <a:r>
              <a:rPr lang="en-US" sz="2800" dirty="0"/>
              <a:t>Full-Scale Output</a:t>
            </a:r>
          </a:p>
          <a:p>
            <a:r>
              <a:rPr lang="en-US" sz="2800" dirty="0"/>
              <a:t>Sensitivity</a:t>
            </a:r>
          </a:p>
          <a:p>
            <a:r>
              <a:rPr lang="en-US" sz="2800" dirty="0"/>
              <a:t>Accuracy</a:t>
            </a:r>
          </a:p>
          <a:p>
            <a:r>
              <a:rPr lang="en-US" sz="2800" dirty="0"/>
              <a:t>Dynamic Range</a:t>
            </a:r>
          </a:p>
          <a:p>
            <a:r>
              <a:rPr lang="en-US" sz="2800" dirty="0"/>
              <a:t>Dead Band</a:t>
            </a:r>
          </a:p>
        </p:txBody>
      </p:sp>
    </p:spTree>
    <p:extLst>
      <p:ext uri="{BB962C8B-B14F-4D97-AF65-F5344CB8AC3E}">
        <p14:creationId xmlns:p14="http://schemas.microsoft.com/office/powerpoint/2010/main" val="3753243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5079F-D118-4EDB-3B15-1A4AE858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Hands-on Activity: </a:t>
            </a:r>
            <a:r>
              <a:rPr lang="en-US" b="0" dirty="0"/>
              <a:t>Sensors and Navigating Spec sheets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842A2F8-2851-07B8-E941-3D7BB395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the sensors you are provided and their associated </a:t>
            </a:r>
            <a:r>
              <a:rPr lang="en-US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specsheets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you have 7 minutes to characterize your sensors before passing it to other groups: </a:t>
            </a:r>
          </a:p>
          <a:p>
            <a:pPr marL="0" indent="0">
              <a:buNone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AutoNum type="arabicPeriod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explain the working principle, characterize in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terms of 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family of sensors, possible applications, and some characteristics you found to be important for that.</a:t>
            </a:r>
          </a:p>
          <a:p>
            <a:pPr marL="457200" lvl="1" indent="0"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last sensor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you’ll pitch it in 1 minute presentation to the class.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459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7867B-2B24-777F-5156-06E8CD9B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Creative Catalyst: </a:t>
            </a:r>
            <a:r>
              <a:rPr lang="en-US" b="0" dirty="0"/>
              <a:t>Sensors for real-world applications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1FC4583-E398-7E71-1BCD-8498DE8DF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Think of a product or application that integrates one or more than one sensors of the box. </a:t>
            </a:r>
          </a:p>
          <a:p>
            <a:pPr marL="0" indent="0"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 can be anything, doesn’t need to be possible, there are no limits. (e.g. robot for gardening assistant, intelligent vacuum cleaner, Intelligent Waste Sorting Bin, Assistant for free-space optical alignments, health wearable)</a:t>
            </a:r>
          </a:p>
          <a:p>
            <a:pPr marL="0" indent="0"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Work an idea with your colleagues, add features, iterate and add sensors and possibly actuators.</a:t>
            </a:r>
          </a:p>
          <a:p>
            <a:pPr marL="0" indent="0"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Pitch to the classroom:</a:t>
            </a:r>
          </a:p>
          <a:p>
            <a:pPr marL="342900" indent="-342900">
              <a:buAutoNum type="arabicPeriod"/>
            </a:pP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your prototype intends to do</a:t>
            </a:r>
          </a:p>
          <a:p>
            <a:pPr marL="342900" indent="-342900">
              <a:buAutoNum type="arabicPeriod"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sensors and actua</a:t>
            </a:r>
            <a:r>
              <a:rPr lang="en-US" sz="20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tors do you utilize</a:t>
            </a:r>
          </a:p>
          <a:p>
            <a:pPr marL="342900" indent="-342900">
              <a:buAutoNum type="arabicPeriod"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information you extract, and what action it produces</a:t>
            </a:r>
          </a:p>
        </p:txBody>
      </p:sp>
    </p:spTree>
    <p:extLst>
      <p:ext uri="{BB962C8B-B14F-4D97-AF65-F5344CB8AC3E}">
        <p14:creationId xmlns:p14="http://schemas.microsoft.com/office/powerpoint/2010/main" val="1568499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956</Words>
  <Application>Microsoft Office PowerPoint</Application>
  <PresentationFormat>Ecrã Panorâmico</PresentationFormat>
  <Paragraphs>136</Paragraphs>
  <Slides>23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CMU Bright</vt:lpstr>
      <vt:lpstr>Tema do Office</vt:lpstr>
      <vt:lpstr>Sensors and Signal Analysis</vt:lpstr>
      <vt:lpstr>Apresentação do PowerPoint</vt:lpstr>
      <vt:lpstr>Sensor Characteristics</vt:lpstr>
      <vt:lpstr>Sensor Characteristics</vt:lpstr>
      <vt:lpstr>Sensor Characteristics</vt:lpstr>
      <vt:lpstr>Today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Assessing our understanding</vt:lpstr>
      <vt:lpstr>Hands-on Activity: Sensors and Navigating Spec sheets </vt:lpstr>
      <vt:lpstr>Creative Catalyst: Sensors for real-world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Sensors and Signal Analysis</dc:title>
  <dc:creator>Nuno Silva</dc:creator>
  <cp:lastModifiedBy> </cp:lastModifiedBy>
  <cp:revision>27</cp:revision>
  <dcterms:created xsi:type="dcterms:W3CDTF">2024-02-15T15:44:18Z</dcterms:created>
  <dcterms:modified xsi:type="dcterms:W3CDTF">2026-02-22T16:38:21Z</dcterms:modified>
</cp:coreProperties>
</file>